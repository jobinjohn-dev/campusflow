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3ac9209984374" /><Relationship Type="http://schemas.openxmlformats.org/officeDocument/2006/relationships/extended-properties" Target="/docProps/app.xml" Id="Raef66283644a4e03" /><Relationship Type="http://schemas.openxmlformats.org/officeDocument/2006/relationships/officeDocument" Target="/ppt/presentation.xml" Id="R32f53f00a21d42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22c279f8d84f5f"/>
  </p:sldMasterIdLst>
  <p:notesMasterIdLst>
    <p:notesMasterId xmlns:r="http://schemas.openxmlformats.org/officeDocument/2006/relationships" r:id="R4568393a9cc1470b"/>
  </p:notesMasterIdLst>
  <p:sldIdLst>
    <p:sldId xmlns:r="http://schemas.openxmlformats.org/officeDocument/2006/relationships" id="256" r:id="R5544b5be885849de"/>
    <p:sldId xmlns:r="http://schemas.openxmlformats.org/officeDocument/2006/relationships" id="257" r:id="R5e11f3736e7447f4"/>
    <p:sldId xmlns:r="http://schemas.openxmlformats.org/officeDocument/2006/relationships" id="258" r:id="R9e4442f5288b4713"/>
    <p:sldId xmlns:r="http://schemas.openxmlformats.org/officeDocument/2006/relationships" id="259" r:id="Ra6254b59cce74da0"/>
    <p:sldId xmlns:r="http://schemas.openxmlformats.org/officeDocument/2006/relationships" id="260" r:id="R2a964f799fc44408"/>
    <p:sldId xmlns:r="http://schemas.openxmlformats.org/officeDocument/2006/relationships" id="261" r:id="R80f42b0bf60f4cab"/>
    <p:sldId xmlns:r="http://schemas.openxmlformats.org/officeDocument/2006/relationships" id="262" r:id="R1866e2d07e0b433f"/>
    <p:sldId xmlns:r="http://schemas.openxmlformats.org/officeDocument/2006/relationships" id="263" r:id="Rf79ec5db57a24c91"/>
    <p:sldId xmlns:r="http://schemas.openxmlformats.org/officeDocument/2006/relationships" id="264" r:id="R2a088686b373494d"/>
    <p:sldId xmlns:r="http://schemas.openxmlformats.org/officeDocument/2006/relationships" id="265" r:id="Ra4ef4b8f9b24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c03fe68a24c65" /><Relationship Type="http://schemas.openxmlformats.org/officeDocument/2006/relationships/slideMaster" Target="/ppt/slideMasters/slideMaster1.xml" Id="R0022c279f8d84f5f" /><Relationship Type="http://schemas.openxmlformats.org/officeDocument/2006/relationships/notesMaster" Target="/ppt/notesMasters/notesMaster1.xml" Id="R4568393a9cc1470b" /><Relationship Type="http://schemas.openxmlformats.org/officeDocument/2006/relationships/presProps" Target="/ppt/presProps.xml" Id="Rf3d1a251bf5e40ca" /><Relationship Type="http://schemas.openxmlformats.org/officeDocument/2006/relationships/tableStyles" Target="/ppt/tableStyles.xml" Id="Rc917716cd7924733" /><Relationship Type="http://schemas.openxmlformats.org/officeDocument/2006/relationships/slide" Target="/ppt/slides/slide1.xml" Id="R5544b5be885849de" /><Relationship Type="http://schemas.openxmlformats.org/officeDocument/2006/relationships/slide" Target="/ppt/slides/slide2.xml" Id="R5e11f3736e7447f4" /><Relationship Type="http://schemas.openxmlformats.org/officeDocument/2006/relationships/slide" Target="/ppt/slides/slide3.xml" Id="R9e4442f5288b4713" /><Relationship Type="http://schemas.openxmlformats.org/officeDocument/2006/relationships/slide" Target="/ppt/slides/slide4.xml" Id="Ra6254b59cce74da0" /><Relationship Type="http://schemas.openxmlformats.org/officeDocument/2006/relationships/slide" Target="/ppt/slides/slide5.xml" Id="R2a964f799fc44408" /><Relationship Type="http://schemas.openxmlformats.org/officeDocument/2006/relationships/slide" Target="/ppt/slides/slide6.xml" Id="R80f42b0bf60f4cab" /><Relationship Type="http://schemas.openxmlformats.org/officeDocument/2006/relationships/slide" Target="/ppt/slides/slide7.xml" Id="R1866e2d07e0b433f" /><Relationship Type="http://schemas.openxmlformats.org/officeDocument/2006/relationships/slide" Target="/ppt/slides/slide8.xml" Id="Rf79ec5db57a24c91" /><Relationship Type="http://schemas.openxmlformats.org/officeDocument/2006/relationships/slide" Target="/ppt/slides/slide9.xml" Id="R2a088686b373494d" /><Relationship Type="http://schemas.openxmlformats.org/officeDocument/2006/relationships/slide" Target="/ppt/slides/slide10.xml" Id="Ra4ef4b8f9b24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071500be4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0a03336d84eeb" /><Relationship Type="http://schemas.openxmlformats.org/officeDocument/2006/relationships/notesMaster" Target="/ppt/notesMasters/notesMaster1.xml" Id="R7260f24c06bf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ac278f229847d8" /><Relationship Type="http://schemas.openxmlformats.org/officeDocument/2006/relationships/notesMaster" Target="/ppt/notesMasters/notesMaster1.xml" Id="R2618beb38d97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c64a058164232" /><Relationship Type="http://schemas.openxmlformats.org/officeDocument/2006/relationships/notesMaster" Target="/ppt/notesMasters/notesMaster1.xml" Id="R42cd7a7d77174a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e51c9801041b3" /><Relationship Type="http://schemas.openxmlformats.org/officeDocument/2006/relationships/notesMaster" Target="/ppt/notesMasters/notesMaster1.xml" Id="R74121887020e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1f0a0178c64c97" /><Relationship Type="http://schemas.openxmlformats.org/officeDocument/2006/relationships/notesMaster" Target="/ppt/notesMasters/notesMaster1.xml" Id="R367b717f3701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c728f8bb24c0c" /><Relationship Type="http://schemas.openxmlformats.org/officeDocument/2006/relationships/notesMaster" Target="/ppt/notesMasters/notesMaster1.xml" Id="R019dd7d5af2844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98645977344dab" /><Relationship Type="http://schemas.openxmlformats.org/officeDocument/2006/relationships/notesMaster" Target="/ppt/notesMasters/notesMaster1.xml" Id="Rf37b554ac593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8c29ca5da451e" /><Relationship Type="http://schemas.openxmlformats.org/officeDocument/2006/relationships/notesMaster" Target="/ppt/notesMasters/notesMaster1.xml" Id="R928e3ccc4319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e8034946b24ddd" /><Relationship Type="http://schemas.openxmlformats.org/officeDocument/2006/relationships/notesMaster" Target="/ppt/notesMasters/notesMaster1.xml" Id="Rf03ec458888f46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c4e905ce66407a" /><Relationship Type="http://schemas.openxmlformats.org/officeDocument/2006/relationships/notesMaster" Target="/ppt/notesMasters/notesMaster1.xml" Id="R43829fcbabb3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5834d3c484b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74dd036a947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c2b7f42ad4d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cea40eb6945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46ec6c2ae44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d8631aa33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CB35E-B692-4ECA-9A34-569A7A2E8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62BFEB-B68B-4726-81D6-FD5C76836C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11A938-EE25-4DEC-A0E0-AE9A9A455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842DF-3735-48DD-B8CA-51D2D01CD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33702E-1590-4AF8-93C5-9C598D480A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E9DD77-0E2D-44B2-A502-408A5D1D7D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5AA9D-7941-49E5-B560-AF7A3554C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F44D08-B938-4D73-B4B5-3674111CA7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5FB5C9-6E46-4AB4-8EEA-E620853E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546102-4DC2-454B-B95E-EAD282D08D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cc80c0b98743b0" /><Relationship Type="http://schemas.openxmlformats.org/officeDocument/2006/relationships/slideLayout" Target="/ppt/slideLayouts/slideLayout1.xml" Id="R0e540b17bf334cbd" /><Relationship Type="http://schemas.openxmlformats.org/officeDocument/2006/relationships/slideLayout" Target="/ppt/slideLayouts/slideLayout2.xml" Id="Ref75dcb004ae4f2d" /><Relationship Type="http://schemas.openxmlformats.org/officeDocument/2006/relationships/slideLayout" Target="/ppt/slideLayouts/slideLayout3.xml" Id="Re378d5d8f0f54f91" /><Relationship Type="http://schemas.openxmlformats.org/officeDocument/2006/relationships/slideLayout" Target="/ppt/slideLayouts/slideLayout4.xml" Id="Ra3c1bff4970340b7" /><Relationship Type="http://schemas.openxmlformats.org/officeDocument/2006/relationships/slideLayout" Target="/ppt/slideLayouts/slideLayout5.xml" Id="Rf4c475b9433448f6" /><Relationship Type="http://schemas.openxmlformats.org/officeDocument/2006/relationships/slideLayout" Target="/ppt/slideLayouts/slideLayout6.xml" Id="R110766fd4a7b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40b17bf334cbd"/>
    <p:sldLayoutId xmlns:r="http://schemas.openxmlformats.org/officeDocument/2006/relationships" id="2147483650" r:id="Ref75dcb004ae4f2d"/>
    <p:sldLayoutId xmlns:r="http://schemas.openxmlformats.org/officeDocument/2006/relationships" id="2147483651" r:id="Re378d5d8f0f54f91"/>
    <p:sldLayoutId xmlns:r="http://schemas.openxmlformats.org/officeDocument/2006/relationships" id="2147483652" r:id="Ra3c1bff4970340b7"/>
    <p:sldLayoutId xmlns:r="http://schemas.openxmlformats.org/officeDocument/2006/relationships" id="2147483653" r:id="Rf4c475b9433448f6"/>
    <p:sldLayoutId xmlns:r="http://schemas.openxmlformats.org/officeDocument/2006/relationships" id="2147483654" r:id="R110766fd4a7b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ac8c9ec084267" /><Relationship Type="http://schemas.openxmlformats.org/officeDocument/2006/relationships/notesSlide" Target="/ppt/notesSlides/notesSlide1.xml" Id="R9ad3718e31d0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f6eb066d440b1" /><Relationship Type="http://schemas.openxmlformats.org/officeDocument/2006/relationships/notesSlide" Target="/ppt/notesSlides/notesSlide2.xml" Id="R32876c4454a1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c1a078e504ea6" /><Relationship Type="http://schemas.openxmlformats.org/officeDocument/2006/relationships/notesSlide" Target="/ppt/notesSlides/notesSlide3.xml" Id="Rf8516907c60941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7a50f40524352" /><Relationship Type="http://schemas.openxmlformats.org/officeDocument/2006/relationships/notesSlide" Target="/ppt/notesSlides/notesSlide4.xml" Id="Rb28ca3a15270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30874361b4a5b" /><Relationship Type="http://schemas.openxmlformats.org/officeDocument/2006/relationships/notesSlide" Target="/ppt/notesSlides/notesSlide5.xml" Id="R405c9b34b3774b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feffa2949459d" /><Relationship Type="http://schemas.openxmlformats.org/officeDocument/2006/relationships/notesSlide" Target="/ppt/notesSlides/notesSlide6.xml" Id="R421beb5841be48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69d8b4c0049b2" /><Relationship Type="http://schemas.openxmlformats.org/officeDocument/2006/relationships/chart" Target="/ppt/slides/charts/chart1.xml" Id="R729f9899781f49d7" /><Relationship Type="http://schemas.openxmlformats.org/officeDocument/2006/relationships/notesSlide" Target="/ppt/notesSlides/notesSlide7.xml" Id="R3dd55aa05dcd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dc128279b4f58" /><Relationship Type="http://schemas.openxmlformats.org/officeDocument/2006/relationships/chart" Target="/ppt/slides/charts/chart2.xml" Id="Re91380f3c29f4cf5" /><Relationship Type="http://schemas.openxmlformats.org/officeDocument/2006/relationships/notesSlide" Target="/ppt/notesSlides/notesSlide8.xml" Id="R1581c53a622342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8333d684c4f98" /><Relationship Type="http://schemas.openxmlformats.org/officeDocument/2006/relationships/notesSlide" Target="/ppt/notesSlides/notesSlide9.xml" Id="R138fb705cd5b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b5adac7244e8e" /><Relationship Type="http://schemas.openxmlformats.org/officeDocument/2006/relationships/notesSlide" Target="/ppt/notesSlides/notesSlide10.xml" Id="R7d99521bf1b14ca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Tests by compiler area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Tests</c:v>
          </c:tx>
          <c:spPr>
            <a:solidFill xmlns:a="http://schemas.openxmlformats.org/drawingml/2006/main">
              <a:srgbClr val="2F6B9A"/>
            </a:solidFill>
          </c:spPr>
          <c:invertIfNegative val="0"/>
          <c:cat>
            <c:strLit>
              <c:ptCount val="6"/>
              <c:pt idx="0">
                <c:v>Lexical</c:v>
              </c:pt>
              <c:pt idx="1">
                <c:v>Parser and AST</c:v>
              </c:pt>
              <c:pt idx="2">
                <c:v>Semantic</c:v>
              </c:pt>
              <c:pt idx="3">
                <c:v>IR and runtime</c:v>
              </c:pt>
              <c:pt idx="4">
                <c:v>Optimization</c:v>
              </c:pt>
              <c:pt idx="5">
                <c:v>Integration</c:v>
              </c:pt>
            </c:strLit>
          </c:cat>
          <c:val>
            <c:numLit>
              <c:formatCode>General</c:formatCode>
              <c:ptCount val="6"/>
              <c:pt idx="0">
                <c:v>9</c:v>
              </c:pt>
              <c:pt idx="1">
                <c:v>8</c:v>
              </c:pt>
              <c:pt idx="2">
                <c:v>7</c:v>
              </c:pt>
              <c:pt idx="3">
                <c:v>11</c:v>
              </c:pt>
              <c:pt idx="4">
                <c:v>14</c:v>
              </c:pt>
              <c:pt idx="5">
                <c:v>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822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7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8D7E3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IR instructions in the complex schedule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6324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Instructions</c:v>
          </c:tx>
          <c:spPr>
            <a:solidFill xmlns:a="http://schemas.openxmlformats.org/drawingml/2006/main">
              <a:srgbClr val="2F6B9A"/>
            </a:solidFill>
          </c:spPr>
          <c:invertIfNegative val="0"/>
          <c:cat>
            <c:strLit>
              <c:ptCount val="2"/>
              <c:pt idx="0">
                <c:v>Original IR</c:v>
              </c:pt>
              <c:pt idx="1">
                <c:v>Optimized IR</c:v>
              </c:pt>
            </c:strLit>
          </c:cat>
          <c:val>
            <c:numLit>
              <c:formatCode>General</c:formatCode>
              <c:ptCount val="2"/>
              <c:pt idx="0">
                <c:v>29</c:v>
              </c:pt>
              <c:pt idx="1">
                <c:v>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822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7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8D7E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9C921-D205-41C9-B326-A9A69F4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COMPILER DESIGN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5DB87-4662-411F-A789-8F59C80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CampusFlow DSL Compiler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F80A5-F021-435A-9594-B4AC357F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>
                <a:solidFill>
                  <a:srgbClr val="DDEA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DEAF2"/>
                </a:solidFill>
                <a:latin typeface="Arial"/>
                <a:ea typeface="Arial"/>
                <a:cs typeface="Arial"/>
              </a:rPr>
              <a:t>Phase 3 final implementation and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0C5A-DE1B-4049-925C-B8015677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00150"/>
            <a:ext cx="2781300" cy="40005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204B70"/>
          </a:solidFill>
          <a:ln xmlns:a="http://schemas.openxmlformats.org/drawingml/2006/main" w="9525">
            <a:solidFill>
              <a:srgbClr val="4D77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5A8DE-B10B-438E-A490-92C2BE1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000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TOKENS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IR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OPTIMIZED IR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3D3B-85F5-46D8-9DE5-C738965E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BFD4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BFD4E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FD4E2"/>
                </a:solidFill>
                <a:latin typeface="Arial"/>
                <a:ea typeface="Arial"/>
                <a:cs typeface="Arial"/>
              </a:rPr>
              <a:t>Complete compiler pipeline with safe optimization, execution, tests, and performance validation</a:t>
            </a:r>
          </a:p>
        </p:txBody>
      </p:sp>
    </p:spTree>
    <p:extLst>
      <p:ext uri="{BB962C8B-B14F-4D97-AF65-F5344CB8AC3E}">
        <p14:creationId xmlns:p14="http://schemas.microsoft.com/office/powerpoint/2010/main" val="722671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DCF57-4CB3-4A60-A4E0-330759C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29762-D7CF-46FC-B303-CDD96EFF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 small language for campus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0D444-7572-43A0-9F67-5A52DC1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5BDA-3AB1-45A9-9E35-B8154AD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2387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6942-33E3-4EF9-9745-651E979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CampusFlow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7FCF0-5BB8-4157-8A2B-E94FC04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476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22D"/>
                </a:solidFill>
                <a:latin typeface="Arial"/>
                <a:ea typeface="Arial"/>
                <a:cs typeface="Arial"/>
              </a:rPr>
              <a:t>EVENT Workshop ON 2026-10-25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22D"/>
                </a:solidFill>
                <a:latin typeface="Arial"/>
                <a:ea typeface="Arial"/>
                <a:cs typeface="Arial"/>
              </a:rPr>
              <a:t>  AT 10:00 TO 12:00;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22D"/>
                </a:solidFill>
                <a:latin typeface="Arial"/>
                <a:ea typeface="Arial"/>
                <a:cs typeface="Arial"/>
              </a:rPr>
              <a:t>RESERVE MainHall FOR Workshop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22D"/>
                </a:solidFill>
                <a:latin typeface="Arial"/>
                <a:ea typeface="Arial"/>
                <a:cs typeface="Arial"/>
              </a:rPr>
              <a:t>  CAPACITY 100;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8222D"/>
                </a:solidFill>
                <a:latin typeface="Arial"/>
                <a:ea typeface="Arial"/>
                <a:cs typeface="Arial"/>
              </a:rPr>
              <a:t>ASSIGN Projector TO Workshop;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DC2EE-FCE4-40D5-A8A7-D3AC75F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What the compiler validates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77249-89B4-42F8-B03E-E3D4A720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F569-B182-4F62-A0D0-9BE2ECA2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33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DEECB-7F56-426B-934F-AF9445B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22D"/>
                </a:solidFill>
                <a:latin typeface="Arial"/>
                <a:ea typeface="Arial"/>
                <a:cs typeface="Arial"/>
              </a:rPr>
              <a:t>Dates and time ranges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DCCF2-12E3-4D88-B2FC-C2728340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06172"/>
                </a:solidFill>
                <a:latin typeface="Arial"/>
                <a:ea typeface="Arial"/>
                <a:cs typeface="Arial"/>
              </a:rPr>
              <a:t>Lexical and runtime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7CC0B-1E9F-4D3A-ABC5-C22ABD35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ACD7B-6C14-43F2-B33A-912385C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0434F-052D-45E1-B599-7384A88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22D"/>
                </a:solidFill>
                <a:latin typeface="Arial"/>
                <a:ea typeface="Arial"/>
                <a:cs typeface="Arial"/>
              </a:rPr>
              <a:t>Statement 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DF47C-2711-4C1C-9D77-4BD4A8A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06172"/>
                </a:solidFill>
                <a:latin typeface="Arial"/>
                <a:ea typeface="Arial"/>
                <a:cs typeface="Arial"/>
              </a:rPr>
              <a:t>Recursive descent parser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BFB02-4609-4B46-8E3B-E537C61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6690A-E05B-4FAC-A545-56F9ADF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10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837F3-E924-4071-B1D7-F892BFD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22D"/>
                </a:solidFill>
                <a:latin typeface="Arial"/>
                <a:ea typeface="Arial"/>
                <a:cs typeface="Arial"/>
              </a:rPr>
              <a:t>Declarations and conflicts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66AEA-6779-41B4-BE1A-E70A736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76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06172"/>
                </a:solidFill>
                <a:latin typeface="Arial"/>
                <a:ea typeface="Arial"/>
                <a:cs typeface="Arial"/>
              </a:rPr>
              <a:t>Semantic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326BA-B866-40E0-80FD-FE633EB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AB47B-CB0A-4044-B1B2-E0E87F04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48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4702C-FB20-41DE-BBB1-8B5E1623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10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22D"/>
                </a:solidFill>
                <a:latin typeface="Arial"/>
                <a:ea typeface="Arial"/>
                <a:cs typeface="Arial"/>
              </a:rPr>
              <a:t>Conditions and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A943D-D569-4226-91D3-5C0065A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06172"/>
                </a:solidFill>
                <a:latin typeface="Arial"/>
                <a:ea typeface="Arial"/>
                <a:cs typeface="Arial"/>
              </a:rPr>
              <a:t>IR, optimizer, interpreter</a:t>
            </a:r>
          </a:p>
        </p:txBody>
      </p:sp>
    </p:spTree>
    <p:extLst>
      <p:ext uri="{BB962C8B-B14F-4D97-AF65-F5344CB8AC3E}">
        <p14:creationId xmlns:p14="http://schemas.microsoft.com/office/powerpoint/2010/main" val="1904959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08A42-D009-4983-A96D-E1C24CCE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DEVELOPMENT 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8EAAA-AED0-444E-AFD8-2C2CA289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project grew in three controlled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A061A-AE98-4589-B99D-8D54B82A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E824-85B5-41DA-B677-1BDB88FB6620}"/>
              </a:ext>
            </a:extLst>
          </p:cNvPr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108966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857750"/>
                <a:gridCol w="4610100"/>
              </a:tblGrid>
              <a:tr h="742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work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Demonstrable result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Phase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Lexer, tokens, lexical errors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Source converted into positioned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Phase 2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Parser, AST, semantic checks, symbols, IR, interpreter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Valid schedules execute and invalid programs stop safely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Phase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Optimizer, metrics, complex cases, full testing and documentation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Equivalent optimized execution with measured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608E0-F01A-4B4B-B596-D41360BF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Phase 3 preserves every earlier compiler stage and adds optimization after IR generation.</a:t>
            </a:r>
          </a:p>
        </p:txBody>
      </p:sp>
    </p:spTree>
    <p:extLst>
      <p:ext uri="{BB962C8B-B14F-4D97-AF65-F5344CB8AC3E}">
        <p14:creationId xmlns:p14="http://schemas.microsoft.com/office/powerpoint/2010/main" val="1926749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68BF8-35E4-47D8-8F58-E0DCF052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COMPILER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C2396-9FB8-43AD-B146-B56C3765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Each stage has one clear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7B089-18EC-44E8-B3BA-3E0887C4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ED3F5-A484-4114-B1CC-D4CC382FB424}"/>
              </a:ext>
            </a:extLst>
          </p:cNvPr>
          <p:cNvGraphicFramePr/>
          <p:nvPr/>
        </p:nvGraphicFramePr>
        <p:xfrm>
          <a:off xmlns:a="http://schemas.openxmlformats.org/drawingml/2006/main" x="1047750" y="1390650"/>
          <a:ext xmlns:a="http://schemas.openxmlformats.org/drawingml/2006/main" cx="100965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33750"/>
                <a:gridCol w="4286250"/>
              </a:tblGrid>
              <a:tr h="6041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Lexical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CampusFlow characters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Tokens with line and column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Syntax analysis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Token stream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Abstract syntax tree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Semantic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AST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Validated symbols and diagnostics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IR generation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Validated AST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Three-address-style instructions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Original 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Smaller equivalent 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4157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Optimized IR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Final campus schedule state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78659-8F8B-40F3-AA9E-08EE053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Errors stop the pipeline at the correct stage and keep later artifacts unavailable.</a:t>
            </a:r>
          </a:p>
        </p:txBody>
      </p:sp>
    </p:spTree>
    <p:extLst>
      <p:ext uri="{BB962C8B-B14F-4D97-AF65-F5344CB8AC3E}">
        <p14:creationId xmlns:p14="http://schemas.microsoft.com/office/powerpoint/2010/main" val="623533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905E9-7FFC-47A7-9336-F08F054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OPTIMIZATION ALGORITHM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B80B1-596E-433B-90FD-50DA68A3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Constant conditions are folded without changing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3B079-E168-4C1C-A42D-220DB93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3C05B-BEAC-4E8B-97BD-90DF0082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0DF02-C266-444B-A1CC-197C732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original instructions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39659-2468-45C7-8665-B7C8898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E50B7-60D5-4F19-8ACE-B37F012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optimized 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84C2A-2B90-46CD-8EE9-D9F1D43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00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62.50%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73A30-BCEC-40CB-B36A-8C2C274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09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instruction reduction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F542F-2C96-4A65-B9AF-5FFB3C5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9C589-3639-47F9-925F-FEE3C9F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Proof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F7C41-F8E0-4E77-A15D-9D5E9553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343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22D"/>
                </a:solidFill>
                <a:latin typeface="Arial"/>
                <a:ea typeface="Arial"/>
                <a:cs typeface="Arial"/>
              </a:rPr>
              <a:t>1. Track the latest known capacity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22D"/>
                </a:solidFill>
                <a:latin typeface="Arial"/>
                <a:ea typeface="Arial"/>
                <a:cs typeface="Arial"/>
              </a:rPr>
              <a:t>2. Evaluate comparisons only when provable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22D"/>
                </a:solidFill>
                <a:latin typeface="Arial"/>
                <a:ea typeface="Arial"/>
                <a:cs typeface="Arial"/>
              </a:rPr>
              <a:t>3. Keep a true body and remove its jump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22D"/>
                </a:solidFill>
                <a:latin typeface="Arial"/>
                <a:ea typeface="Arial"/>
                <a:cs typeface="Arial"/>
              </a:rPr>
              <a:t>4. Remove a false body and its label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8222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22D"/>
                </a:solidFill>
                <a:latin typeface="Arial"/>
                <a:ea typeface="Arial"/>
                <a:cs typeface="Arial"/>
              </a:rPr>
              <a:t>5. Reject malformed control flow safely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B3098-4D98-4905-BFF4-5F15C9D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9ACFF-D6E2-41D0-A8F0-D0B90656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ACB32-1948-42F3-B5D3-385C4A9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4095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capacity &gt;= 100 THEN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  ASSIGN Projector TO Demo;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capacity = 100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 = true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 = keep ASSIGN only</a:t>
            </a:r>
          </a:p>
        </p:txBody>
      </p:sp>
    </p:spTree>
    <p:extLst>
      <p:ext uri="{BB962C8B-B14F-4D97-AF65-F5344CB8AC3E}">
        <p14:creationId xmlns:p14="http://schemas.microsoft.com/office/powerpoint/2010/main" val="1696890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138A1-D0B3-4D2A-9177-A064DA1A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FUNCTIONAL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6696E-E93C-435F-8D2F-A03AB6B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complex program exercises the full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32853-4C48-4CE3-833C-6D523BD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17FA-6D9F-4827-B6BA-254413E3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D6A44-7234-4278-9B7C-8B26E1FF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CEA1F-3D8A-4BD7-BFBC-3944486B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events declared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1608B-AFDA-4FE5-95DB-70D4E861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80324-CFA1-46D7-8A67-DEEDB49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BBF9A-0622-405E-9F99-4639C32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19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resource reservations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4322E-05D5-4E27-9B26-9EE51B9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37EE5-3A2F-49FA-BBAE-FBE505FE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39D84-D5EF-4E9A-923E-6E72465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item assignments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FCEA8-56CE-43EA-B485-FEAF357C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72E10-514D-47EC-9FE0-0CE5F58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62496-37B2-43FD-A174-E3D00DC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event cancellation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C81B0-10A3-44F5-834F-652F8F1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35A67-2D09-4FAD-9559-1EBEC8BB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08F14-640E-48BB-8208-1A15B67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constant 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F4D2F-2800-4B1A-8861-779A9FBF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23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69E3A-354D-404A-8EA3-6003AB60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C212D-1664-40CA-B6BB-4D26637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06172"/>
                </a:solidFill>
                <a:latin typeface="Arial"/>
                <a:ea typeface="Arial"/>
                <a:cs typeface="Arial"/>
              </a:rPr>
              <a:t>runtime errors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FE575-B5E1-487B-9705-E5F6F60B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interpreter runs optimized IR and produces the same observable final state as the original IR.</a:t>
            </a:r>
          </a:p>
        </p:txBody>
      </p:sp>
    </p:spTree>
    <p:extLst>
      <p:ext uri="{BB962C8B-B14F-4D97-AF65-F5344CB8AC3E}">
        <p14:creationId xmlns:p14="http://schemas.microsoft.com/office/powerpoint/2010/main" val="1242584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CCCC5-3C1F-4A3C-B2E1-739464E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105AB-378B-4AAA-A5D6-C1D254D5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71 automated tests cover every compiler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DF21D-4207-43E0-A67A-A03E0CB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A195C-CA19-40F5-BA25-4F5D679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15225-9220-4E79-94D3-7551CA4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tests passing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FD717-DD63-4121-A6A6-2965305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5A276-0AF3-4846-A471-28DC979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0E788-F652-49F2-B969-148C8EF0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88A28-80C5-41CB-90C9-7086139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test modules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7047819E-4B46-4928-979B-3A40798A3F1F}"/>
              </a:ext>
            </a:extLst>
          </p:cNvPr>
          <p:cNvGraphicFramePr/>
          <p:nvPr/>
        </p:nvGraphicFramePr>
        <p:xfrm>
          <a:off xmlns:a="http://schemas.openxmlformats.org/drawingml/2006/main" x="3238500" y="1504950"/>
          <a:ext xmlns:a="http://schemas.openxmlformats.org/drawingml/2006/main" cx="79629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f9899781f49d7"/>
          </a:graphicData>
        </a:graphic>
      </p:graphicFrame>
    </p:spTree>
    <p:extLst>
      <p:ext uri="{BB962C8B-B14F-4D97-AF65-F5344CB8AC3E}">
        <p14:creationId xmlns:p14="http://schemas.microsoft.com/office/powerpoint/2010/main" val="1456122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40A1A-CDF6-411B-89BE-AB78E1A7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PERFORMANCE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98C2A-AA34-4AE8-84B9-47BF1F33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Optimization reduces work and preserves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88154-D701-4FAE-868E-E703A66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1CCB1AB-B79A-4508-B7D5-C5EB56DD1761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1380f3c29f4cf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44B20-8D5F-497F-83D1-AF45BE35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34.48%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76EDB-E7FE-4B7E-9706-59BA16D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fewer instructions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6DEA7-9BEB-40BF-A8A6-94AFAC6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417C3-4AC0-4124-9FFB-DFCEA02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benchmark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1928F-C9CC-45CC-921A-C5EBA441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BDDC6-113B-40C7-AA07-01FC73E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equivalent final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4945D-1AAF-4E82-890D-54CB1718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06172"/>
                </a:solidFill>
                <a:latin typeface="Arial"/>
                <a:ea typeface="Arial"/>
                <a:cs typeface="Arial"/>
              </a:rPr>
              <a:t>Median execution times are reported as evidence, not as a guaranteed speedup on every machine.</a:t>
            </a:r>
          </a:p>
        </p:txBody>
      </p:sp>
    </p:spTree>
    <p:extLst>
      <p:ext uri="{BB962C8B-B14F-4D97-AF65-F5344CB8AC3E}">
        <p14:creationId xmlns:p14="http://schemas.microsoft.com/office/powerpoint/2010/main" val="704471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C0350-B02B-4B41-864B-EDD2E92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55544-3151-4460-90B9-8A613956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submission maps directly to the Phase 3 rubric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F3B60-C5CD-4C75-AA2D-D02E9EF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061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061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C2B67-9196-46D3-A55E-2549DD7B1B22}"/>
              </a:ext>
            </a:extLst>
          </p:cNvPr>
          <p:cNvGraphicFramePr/>
          <p:nvPr/>
        </p:nvGraphicFramePr>
        <p:xfrm>
          <a:off xmlns:a="http://schemas.openxmlformats.org/drawingml/2006/main" x="838200" y="1428750"/>
          <a:ext xmlns:a="http://schemas.openxmlformats.org/drawingml/2006/main" cx="105156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086600"/>
              </a:tblGrid>
              <a:tr h="59599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criterion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Submission evidence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Project completion and correctness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Working compiler pipeline, optimizer, interpreter, examples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Compiler integration and complexity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Lexer through optimized IR execution with safe diagnostics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71 automated tests plus valid, invalid, boundary and complex inputs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Demonstration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Runnable CLI, captured outputs, benchmark mode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Documentation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Final report, presentation, source ZIP and user instructions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Viva readiness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22D"/>
                          </a:solidFill>
                          <a:latin typeface="Arial"/>
                          <a:ea typeface="Arial"/>
                          <a:cs typeface="Arial"/>
                        </a:rPr>
                        <a:t>Module explanations, algorithms, commands and evidence</a:t>
                      </a:r>
                    </a:p>
                  </a:txBody>
                  <a:tcPr marL="91440" marR="91440" marT="45720" marB="45720"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897D1-FD5F-4788-B610-3D3CD39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E7D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A"/>
                </a:solidFill>
                <a:latin typeface="Arial"/>
                <a:ea typeface="Arial"/>
                <a:cs typeface="Arial"/>
              </a:rPr>
              <a:t>All evidence is reproducible from the submitted source code.</a:t>
            </a:r>
          </a:p>
        </p:txBody>
      </p:sp>
    </p:spTree>
    <p:extLst>
      <p:ext uri="{BB962C8B-B14F-4D97-AF65-F5344CB8AC3E}">
        <p14:creationId xmlns:p14="http://schemas.microsoft.com/office/powerpoint/2010/main" val="884268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6E451-F6C8-481D-A896-175EE21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76DF1-9BA7-4AFB-93CD-3BDA1225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Phase 3 in three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3620E-8683-4614-B144-FD5F913B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Full compiler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E7393-8E84-4AE9-964F-34211F6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4B70"/>
          </a:solidFill>
          <a:ln xmlns:a="http://schemas.openxmlformats.org/drawingml/2006/main" w="9525">
            <a:solidFill>
              <a:srgbClr val="4D77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6532E-32D7-4DDC-A283-ED525C90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python3 run.py examples/complex_schedule.cflow --stage 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C0240-685B-4D87-944B-B720F44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95B90-38DD-4F3C-A1F5-D364E316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4B70"/>
          </a:solidFill>
          <a:ln xmlns:a="http://schemas.openxmlformats.org/drawingml/2006/main" w="9525">
            <a:solidFill>
              <a:srgbClr val="4D77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1B270-D0C7-4352-A86B-95D1C202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python3 run.py examples/optimization_demo.cflow --stage optimized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B284B-D62E-4197-88F0-5634DF40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FD0D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0D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3DE26-51CB-43D1-9037-78D79734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4B70"/>
          </a:solidFill>
          <a:ln xmlns:a="http://schemas.openxmlformats.org/drawingml/2006/main" w="9525">
            <a:solidFill>
              <a:srgbClr val="4D77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69BED-4727-4F74-91B7-6C70B092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338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python3 run.py examples/complex_schedule.cflow --benchmark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041C3-BE00-474B-8C1A-042AAE20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CampusFlow demonstrates a complete, testable compiler workflow in a focused domain.</a:t>
            </a:r>
          </a:p>
        </p:txBody>
      </p:sp>
    </p:spTree>
    <p:extLst>
      <p:ext uri="{BB962C8B-B14F-4D97-AF65-F5344CB8AC3E}">
        <p14:creationId xmlns:p14="http://schemas.microsoft.com/office/powerpoint/2010/main" val="2095080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2026-10-16T09:38:05.1980000Z</dcterms:created>
  <dcterms:modified xsi:type="dcterms:W3CDTF">2026-10-16T09:38:05.1980000Z</dcterms:modified>
</coreProperties>
</file>